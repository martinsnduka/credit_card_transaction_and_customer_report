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772400" cy="10058400"/>
  <p:notesSz cx="10058400" cy="7772400"/>
  <p:embeddedFontLst>
    <p:embeddedFont>
      <p:font typeface="Barlow Condensed ExtraBold"/>
      <p:regular r:id="rId201314"/>
    </p:embeddedFont>
    <p:embeddedFont>
      <p:font typeface="Sofia Sans"/>
      <p:regular r:id="rId201315"/>
    </p:embeddedFont>
    <p:embeddedFont>
      <p:font typeface="Sofia Sans SemiBold"/>
      <p:regular r:id="rId201316"/>
    </p:embeddedFont>
    <p:embeddedFont>
      <p:font typeface="Sofia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9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95" y="690215"/>
            <a:ext cx="6992567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AC272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WEEKLY EXECUTIVE READOUT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4195" y="1814135"/>
            <a:ext cx="6603947" cy="448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9600" spc="-48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Credit Card</a:t>
            </a:r>
            <a:endParaRPr lang="en-US" sz="9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9600" spc="-48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Weekly Performance</a:t>
            </a:r>
            <a:endParaRPr lang="en-US" sz="9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9600" spc="-48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Report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584195" y="6473735"/>
            <a:ext cx="2179220" cy="48445"/>
          </a:xfrm>
          <a:prstGeom prst="roundRect">
            <a:avLst>
              <a:gd name="adj" fmla="val 50006"/>
            </a:avLst>
          </a:prstGeom>
          <a:solidFill>
            <a:srgbClr val="14213A"/>
          </a:solidFill>
          <a:ln/>
        </p:spPr>
      </p:sp>
      <p:sp>
        <p:nvSpPr>
          <p:cNvPr id="5" name="Text 3"/>
          <p:cNvSpPr/>
          <p:nvPr/>
        </p:nvSpPr>
        <p:spPr>
          <a:xfrm>
            <a:off x="584195" y="6740722"/>
            <a:ext cx="6603947" cy="676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8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Executive readout for monitoring revenue, interest income, transaction activity, and customer mix.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4195" y="8219820"/>
            <a:ext cx="6603947" cy="1228524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7" name="Text 5"/>
          <p:cNvSpPr/>
          <p:nvPr/>
        </p:nvSpPr>
        <p:spPr>
          <a:xfrm>
            <a:off x="812788" y="8401487"/>
            <a:ext cx="6375354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FFFF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2788" y="8721696"/>
            <a:ext cx="6375354" cy="554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5200" spc="-52" kern="100" dirty="0">
                <a:solidFill>
                  <a:srgbClr val="D9ECFF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10.79M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1498957"/>
            <a:ext cx="6756384" cy="72858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524966"/>
            <a:ext cx="6756384" cy="86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136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REVENUE IS HEALTHY, BUT THE PORTFOLIO IS CONCENTRATED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76" y="4019123"/>
            <a:ext cx="3302005" cy="12788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6569" y="4251638"/>
            <a:ext cx="3073412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REVENUE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6569" y="4632234"/>
            <a:ext cx="3073412" cy="490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4600" spc="-46" kern="1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10.79M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962292" y="4019123"/>
            <a:ext cx="3302068" cy="12788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190885" y="4251638"/>
            <a:ext cx="3073476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INTEREST EARNED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0885" y="4632234"/>
            <a:ext cx="3073476" cy="490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4600" spc="-46" kern="1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7.84M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507976" y="7745234"/>
            <a:ext cx="2150503" cy="1779320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714" y="7926900"/>
            <a:ext cx="1972765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FFFF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BLUE CARDS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714" y="8299687"/>
            <a:ext cx="1972765" cy="42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4000" spc="-40" kern="100" dirty="0">
                <a:solidFill>
                  <a:srgbClr val="D9ECFF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9.18M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85714" y="8858336"/>
            <a:ext cx="1795027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CFF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About 85% of total revenue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2611" y="8217033"/>
            <a:ext cx="3742365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LEADERSHIP IMPLICATION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2611" y="8582021"/>
            <a:ext cx="3742365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Protect the Blue-card base while testing profitable migration into Silver, Gold, and Platinum.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549" y="1422748"/>
            <a:ext cx="6807238" cy="72858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3" name="Text 1"/>
          <p:cNvSpPr/>
          <p:nvPr/>
        </p:nvSpPr>
        <p:spPr>
          <a:xfrm>
            <a:off x="482549" y="474181"/>
            <a:ext cx="6807238" cy="86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136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WEEKLY KPI SCORECARD SHOULD ANCHOR EVERY LEADERSHIP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2549" y="1673322"/>
            <a:ext cx="3327432" cy="1344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60287" y="1854989"/>
            <a:ext cx="3149694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ACTIVITY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0287" y="2156531"/>
            <a:ext cx="3149694" cy="36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3400" spc="-34" kern="1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45M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0287" y="2595553"/>
            <a:ext cx="3149694" cy="2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total transactions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62292" y="1673322"/>
            <a:ext cx="3327495" cy="1344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40030" y="1854989"/>
            <a:ext cx="3149758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CUSTOMER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40030" y="2156531"/>
            <a:ext cx="3149758" cy="36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3400" spc="-34" kern="1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10K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140030" y="2595553"/>
            <a:ext cx="3149758" cy="2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customer 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549" y="3169813"/>
            <a:ext cx="3327432" cy="1344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0287" y="3351479"/>
            <a:ext cx="3149694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CUSTOMER VIEW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0287" y="3653022"/>
            <a:ext cx="3149694" cy="36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3400" spc="-34" kern="1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576M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0287" y="4092043"/>
            <a:ext cx="3149694" cy="2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income represented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62292" y="3169813"/>
            <a:ext cx="3327495" cy="1344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40030" y="3351479"/>
            <a:ext cx="3149758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40030" y="3653022"/>
            <a:ext cx="3149758" cy="36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3400" spc="-34" kern="1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3.19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140030" y="4092043"/>
            <a:ext cx="3149758" cy="2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customer service experience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549" y="4717152"/>
            <a:ext cx="5915006" cy="3142238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714" y="4894869"/>
          <a:ext cx="5508676" cy="914400"/>
        </p:xfrm>
        <a:graphic>
          <a:graphicData uri="http://schemas.openxmlformats.org/drawingml/2006/table">
            <a:tbl>
              <a:tblPr/>
              <a:tblGrid>
                <a:gridCol w="1542399"/>
                <a:gridCol w="1101723"/>
                <a:gridCol w="2864554"/>
              </a:tblGrid>
              <a:tr h="628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Metric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Current value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Weekly management use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Revenue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10.79M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Track growth and target variance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Interest earned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7.84M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Monitor monetization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Transactions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45M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Monitor activity and utilization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4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Customer count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10K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Monitor base size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6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CSS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3.19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ofia Sans" pitchFamily="34" charset="0"/>
                          <a:ea typeface="Sofia Sans" pitchFamily="34" charset="-122"/>
                          <a:cs typeface="Sofia Sans" pitchFamily="34" charset="0"/>
                        </a:rPr>
                        <a:t>Monitor customer service experience</a:t>
                      </a:r>
                      <a:endParaRPr lang="en-US" sz="1300" dirty="0">
                        <a:latin typeface="Sofia Sans" charset="0"/>
                        <a:ea typeface="Sofia Sans" charset="0"/>
                        <a:cs typeface="Sofia Sans" charset="0"/>
                      </a:endParaRPr>
                    </a:p>
                  </a:txBody>
                  <a:tcPr marL="123825" marR="123825" marT="66040" marB="660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82549" y="8037107"/>
            <a:ext cx="6807238" cy="35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5" kern="100" dirty="0">
                <a:solidFill>
                  <a:srgbClr val="33415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Weekly controls: current week, prior week, week-over-week change, target variance, and exception flag. Gender mix is near-even: 5.46M male revenue versus 5.34M female revenue.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549" y="1422748"/>
            <a:ext cx="6807238" cy="72858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3" name="Text 1"/>
          <p:cNvSpPr/>
          <p:nvPr/>
        </p:nvSpPr>
        <p:spPr>
          <a:xfrm>
            <a:off x="482549" y="474181"/>
            <a:ext cx="6807238" cy="86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136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QUARTERLY REVENUE PEAKED IN Q3 BEFORE SOFTENING IN Q4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82549" y="1647961"/>
            <a:ext cx="6807238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Revenue was 2.8M in Q3, 2.7M in Q2, 2.7M in Q1, and 2.5M in Q4; quarterly transaction counts stayed tightly grouped between 2,504 and 2,535.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2549" y="2288817"/>
            <a:ext cx="6807175" cy="554907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42" y="2466534"/>
            <a:ext cx="6349990" cy="51936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2549" y="8047352"/>
            <a:ext cx="465534" cy="16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D7322A"/>
                </a:solidFill>
                <a:latin typeface="Sofia Sans SemiBold" pitchFamily="34" charset="0"/>
                <a:ea typeface="Sofia Sans SemiBold" pitchFamily="34" charset="-122"/>
                <a:cs typeface="Sofia Sans SemiBold" pitchFamily="34" charset="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4551" y="8033371"/>
            <a:ext cx="6565236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SIGNAL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4551" y="8398359"/>
            <a:ext cx="6565236" cy="24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Revenue softened in Q4 while transaction volume remained broadly stable.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549" y="1422748"/>
            <a:ext cx="6807238" cy="72858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3" name="Text 1"/>
          <p:cNvSpPr/>
          <p:nvPr/>
        </p:nvSpPr>
        <p:spPr>
          <a:xfrm>
            <a:off x="482549" y="474181"/>
            <a:ext cx="6807238" cy="86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136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CUSTOMER VALUE IS STRONGEST IN MATURE, HIGHER-INCOME SEGMENTS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2549" y="1698746"/>
            <a:ext cx="3327432" cy="156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11142" y="1931261"/>
            <a:ext cx="3098840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1142" y="2177692"/>
            <a:ext cx="2870247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40–45 LEADS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1142" y="2542681"/>
            <a:ext cx="2870247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2.3M female revenue and 2.5M male revenue.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62292" y="1698746"/>
            <a:ext cx="3327495" cy="156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90885" y="1931261"/>
            <a:ext cx="3098903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EDUCATION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90885" y="2177692"/>
            <a:ext cx="2870310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GRADUATES LEAD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90885" y="2542681"/>
            <a:ext cx="2870310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2.1M female revenue and 2.3M male revenue.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549" y="3412039"/>
            <a:ext cx="3327432" cy="180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1142" y="3644554"/>
            <a:ext cx="3098840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GEOGRAPHY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1142" y="3890985"/>
            <a:ext cx="2870247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STATE LEADERS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1142" y="4255973"/>
            <a:ext cx="2870247" cy="73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California leads female state revenue at 1.4M; New York leads male state revenue at 1.3M.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62292" y="3412039"/>
            <a:ext cx="3327495" cy="180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90885" y="3644554"/>
            <a:ext cx="3098903" cy="1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SPEND CATEGORIES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90885" y="3890985"/>
            <a:ext cx="2870310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BILLS LEAD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90885" y="4255973"/>
            <a:ext cx="2870310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2.8M, followed by Fuel at 1.8M and Grocery at 1.7M.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549" y="5445855"/>
            <a:ext cx="6807238" cy="1420977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21" name="Text 19"/>
          <p:cNvSpPr/>
          <p:nvPr/>
        </p:nvSpPr>
        <p:spPr>
          <a:xfrm>
            <a:off x="711142" y="5648996"/>
            <a:ext cx="6350053" cy="1014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800" dirty="0">
                <a:solidFill>
                  <a:srgbClr val="D9ECFF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Use these segments for retention, cross-sell, and spend-category campaigns rather than treating the portfolio as one audience.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549" y="1422748"/>
            <a:ext cx="6807238" cy="72858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3" name="Text 1"/>
          <p:cNvSpPr/>
          <p:nvPr/>
        </p:nvSpPr>
        <p:spPr>
          <a:xfrm>
            <a:off x="482549" y="474181"/>
            <a:ext cx="6807238" cy="86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136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RECOMMENDED WEEKLY DASHBOARD ACTIONS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2549" y="2391969"/>
            <a:ext cx="431758" cy="431707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5" name="Text 3"/>
          <p:cNvSpPr/>
          <p:nvPr/>
        </p:nvSpPr>
        <p:spPr>
          <a:xfrm>
            <a:off x="661046" y="2480827"/>
            <a:ext cx="463321" cy="25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D9EC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2045" y="2514785"/>
            <a:ext cx="6197743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MONITOR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2045" y="2879774"/>
            <a:ext cx="6197743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Revenue, interest earned, transactions, customer count, CSS, average transaction value, and week-over-week movement.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2549" y="4859895"/>
            <a:ext cx="431758" cy="431707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9" name="Text 7"/>
          <p:cNvSpPr/>
          <p:nvPr/>
        </p:nvSpPr>
        <p:spPr>
          <a:xfrm>
            <a:off x="641122" y="4948753"/>
            <a:ext cx="503169" cy="25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D9EC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2045" y="4982711"/>
            <a:ext cx="6197743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DIAGNOSE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2045" y="5347699"/>
            <a:ext cx="6197743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Drill from quarter to week, card category, state, age band, income, job, education, and spend type.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549" y="7327820"/>
            <a:ext cx="431758" cy="431707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1754" y="7416679"/>
            <a:ext cx="501904" cy="25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D9EC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2045" y="7450636"/>
            <a:ext cx="6197743" cy="23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spc="72" kern="100" dirty="0">
                <a:solidFill>
                  <a:srgbClr val="14213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0"/>
              </a:rPr>
              <a:t>PRIORITIZE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2045" y="7815625"/>
            <a:ext cx="6197743" cy="48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14213A"/>
                </a:solidFill>
                <a:latin typeface="Sofia Sans" pitchFamily="34" charset="0"/>
                <a:ea typeface="Sofia Sans" pitchFamily="34" charset="-122"/>
                <a:cs typeface="Sofia Sans" pitchFamily="34" charset="0"/>
              </a:rPr>
              <a:t>Defend Blue-card retention, improve premium-card penetration, and target high-value 40–45 and graduate segments.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2549" y="4158513"/>
            <a:ext cx="6807238" cy="16191"/>
          </a:xfrm>
          <a:prstGeom prst="rect">
            <a:avLst/>
          </a:prstGeom>
          <a:solidFill>
            <a:srgbClr val="1421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549" y="6626439"/>
            <a:ext cx="6807238" cy="16191"/>
          </a:xfrm>
          <a:prstGeom prst="rect">
            <a:avLst/>
          </a:prstGeom>
          <a:solidFill>
            <a:srgbClr val="1421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2026-10-29T10:08:45Z</dcterms:created>
  <dcterms:modified xsi:type="dcterms:W3CDTF">2026-10-29T10:08:45Z</dcterms:modified>
</cp:coreProperties>
</file>